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PC-SAFT to PrOMMiS Integration 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slides from the full tutorial notebook for chemical engineers learning the detailed-chemistry-to-process-model workflow.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3886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PC-SAFT supplies the single-stage liquid-liquid equilibrium truth model.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pcsaft-pse converts that chemistry output into process-facing quantities such as extraction efficiency and distribution ratio.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PrOMMiS embeds those quantities in an IDAES MSContactor stage model so outlet streams and KPIs can be solved at the process level.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" y="379476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F4F1EA"/>
          </a:solidFill>
          <a:ln w="13970">
            <a:solidFill>
              <a:srgbClr val="C84C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90448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4C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 basis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6384" y="4197096"/>
            <a:ext cx="32826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Aqueous ions: Li, Na, Cl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Organic phase: TOP + Hexane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operation: one equilibrium contact stage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Nominal O/A ratio: 1.00</a:t>
            </a:r>
            <a:endParaRPr lang="en-US" sz="1100" dirty="0"/>
          </a:p>
        </p:txBody>
      </p:sp>
      <p:pic>
        <p:nvPicPr>
          <p:cNvPr id="10" name="Image 0" descr="C:\Users\Tanner\Documents\git\prommis\output\slides\pcsaft_full_integration_summary\assets\workflow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728006"/>
            <a:ext cx="6766560" cy="15391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28032" y="5532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pattern when you want thermodynamic fidelity where it matters but still need a flowsheet-friendly unit model for design studies and scale-up.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6611112"/>
            <a:ext cx="10881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Tutorial source: docs/tutorials/pcsaft_full_integration.ipynb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84C09"/>
          </a:solidFill>
          <a:ln w="12700">
            <a:solidFill>
              <a:srgbClr val="C84C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Coupling Actually Works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tutorial is valuable because it shows the specific handoff variables and constraints rather than treating the surrogate as a black box.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4F1EA"/>
          </a:solidFill>
          <a:ln w="13970">
            <a:solidFill>
              <a:srgbClr val="2F4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3560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4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8952" y="1728216"/>
            <a:ext cx="23225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a chemically consistent feed basis. Chloride is back-calculated from electroneutrality so the aqueous chemistry closes cleanly.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6432" y="13258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4F1EA"/>
          </a:solidFill>
          <a:ln w="13970">
            <a:solidFill>
              <a:srgbClr val="C84C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143560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4C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21024" y="1728216"/>
            <a:ext cx="23225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direct PC-SAFT stage calculation to obtain lithium extraction efficiency, lithium distribution ratio, and calibration values.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18504" y="13258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4F1EA"/>
          </a:solidFill>
          <a:ln w="13970">
            <a:solidFill>
              <a:srgbClr val="0B6E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143560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83096" y="1728216"/>
            <a:ext cx="23225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PrOMMiS one-stage solvent extraction model and pass the detailed-chemistry outputs into process-level variables.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0576" y="1325880"/>
            <a:ext cx="2377440" cy="1325880"/>
          </a:xfrm>
          <a:prstGeom prst="roundRect">
            <a:avLst>
              <a:gd name="adj" fmla="val 5517"/>
            </a:avLst>
          </a:prstGeom>
          <a:solidFill>
            <a:srgbClr val="F4F1EA"/>
          </a:solidFill>
          <a:ln w="13970">
            <a:solidFill>
              <a:srgbClr val="7A5C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45168" y="143560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5C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45168" y="1728216"/>
            <a:ext cx="20482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the default Li mass-transfer relation with a flowsheet-level coupling constraint so the process model follows the surrogate-derived Li behavior.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4F1EA"/>
          </a:solidFill>
          <a:ln w="13970">
            <a:solidFill>
              <a:srgbClr val="0B6E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172968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chemistry relations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3465576"/>
            <a:ext cx="2916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$n_{Cl^-} = n_{Li^+} + n_{Na^+}$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$K_{Li} = \eta_{Li}/100$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3017520"/>
            <a:ext cx="6858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Sodium and chloride use direct calibration values in this proof of concept, while lithium partitioning is explicitly tied to the surrogate output.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integrated model is still a standard solvable PrOMMiS unit, which means it can sit inside larger flowsheets and optimization studies.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core integration lesson: preserve the process-relevant chemistry signal while moving into a process-systems framework.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6611112"/>
            <a:ext cx="10881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section focus: feed definition, detailed chemistry truth model, and Li transfer coupling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Integrated Stage Preserves the Chemistry Signal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point of the bridge is not just to solve; it is to reproduce the detailed-chemistry quantities that drive extraction performance.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2148840" cy="1234440"/>
          </a:xfrm>
          <a:prstGeom prst="roundRect">
            <a:avLst>
              <a:gd name="adj" fmla="val 4444"/>
            </a:avLst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453896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 extraction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1737360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52.00%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6384" y="2148840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5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one-stage result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2148840" cy="1234440"/>
          </a:xfrm>
          <a:prstGeom prst="roundRect">
            <a:avLst>
              <a:gd name="adj" fmla="val 4444"/>
            </a:avLst>
          </a:prstGeom>
          <a:solidFill>
            <a:srgbClr val="2F4858"/>
          </a:solidFill>
          <a:ln w="12700">
            <a:solidFill>
              <a:srgbClr val="2F485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825496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 distribution ratio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" y="3108960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1.0835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86384" y="3520440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5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Process-level D_Li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2148840" cy="1234440"/>
          </a:xfrm>
          <a:prstGeom prst="roundRect">
            <a:avLst>
              <a:gd name="adj" fmla="val 4444"/>
            </a:avLst>
          </a:prstGeom>
          <a:solidFill>
            <a:srgbClr val="C84C09"/>
          </a:solidFill>
          <a:ln w="12700">
            <a:solidFill>
              <a:srgbClr val="C84C0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197096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Aq. outlet Li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" y="4480560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28.80 mg/L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86384" y="4892040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5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outlet concentration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5486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PC-SAFT and the integrated PrOMMiS model agree to within 3.34e-8 for the transferred Li metrics. That is the validation step that makes the integration credible.</a:t>
            </a:r>
            <a:endParaRPr lang="en-US" sz="1100" dirty="0"/>
          </a:p>
        </p:txBody>
      </p:sp>
      <p:pic>
        <p:nvPicPr>
          <p:cNvPr id="19" name="Image 0" descr="C:\Users\Tanner\Documents\git\prommis\output\slides\pcsaft_full_integration_summary\assets\agre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386667"/>
            <a:ext cx="3703320" cy="1935826"/>
          </a:xfrm>
          <a:prstGeom prst="rect">
            <a:avLst/>
          </a:prstGeom>
        </p:spPr>
      </p:pic>
      <p:pic>
        <p:nvPicPr>
          <p:cNvPr id="20" name="Image 1" descr="C:\Users\Tanner\Documents\git\prommis\output\slides\pcsaft_full_integration_summary\assets\stage_outc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893914"/>
            <a:ext cx="4572000" cy="15730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00400" y="379476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4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stage-outcome plot shows what a process engineer needs next: how Li and Na move between inlet and outlet streams once the chemistry layer is embedded in the unit model.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02920" y="6611112"/>
            <a:ext cx="10881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emphasis: transferred Li metrics remain consistent across the chemistry and process layers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84C09"/>
          </a:solidFill>
          <a:ln w="12700">
            <a:solidFill>
              <a:srgbClr val="C84C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Workflow Is Useful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process engineers, the benefit is not a prettier chemistry calculation. The benefit is a tractable process model informed by thermodynamics.</a:t>
            </a:r>
            <a:endParaRPr lang="en-US" sz="1050" dirty="0"/>
          </a:p>
        </p:txBody>
      </p:sp>
      <p:pic>
        <p:nvPicPr>
          <p:cNvPr id="6" name="Image 0" descr="C:\Users\Tanner\Documents\git\prommis\output\slides\pcsaft_full_integration_summary\assets\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2649830"/>
            <a:ext cx="5623560" cy="19698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1481328"/>
            <a:ext cx="4297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explore design levers such as organic-to-aqueous ratio while keeping the chemistry basis explicit.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tutorial case, increasing O/A from 0.50 to 2.00 raises Li extraction from 26.00% to 100.00%.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pattern can support larger flowsheets, stagewise studies, optimization, and eventually richer fitted surrogates over a wider operating domain.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makes this a practical bridge from detailed equilibrium science to process synthesis and decision making.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94944" y="5166360"/>
            <a:ext cx="10515600" cy="804672"/>
          </a:xfrm>
          <a:prstGeom prst="roundRect">
            <a:avLst>
              <a:gd name="adj" fmla="val 9091"/>
            </a:avLst>
          </a:prstGeom>
          <a:solidFill>
            <a:srgbClr val="F4F1EA"/>
          </a:solidFill>
          <a:ln w="13970">
            <a:solidFill>
              <a:srgbClr val="0B6E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5276088"/>
            <a:ext cx="10186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takeaway for learners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9536" y="5568696"/>
            <a:ext cx="10186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direct chemistry to establish the truth model, then expose only the quantities the unit model actually needs. That keeps the process model fast without losing physical meaning.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6611112"/>
            <a:ext cx="10881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path from the notebook: replace the constant bridge with a fitted surrogate over a broader operating window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PrOMMiS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PC-SAFT Integration Tutorial Slides</dc:title>
  <dc:subject>PC-SAFT full integration tutorial summary</dc:subject>
  <dc:creator>OpenAI Codex</dc:creator>
  <cp:lastModifiedBy>OpenAI Codex</cp:lastModifiedBy>
  <cp:revision>1</cp:revision>
  <dcterms:created xsi:type="dcterms:W3CDTF">2026-03-17T15:56:44Z</dcterms:created>
  <dcterms:modified xsi:type="dcterms:W3CDTF">2026-03-17T15:56:44Z</dcterms:modified>
</cp:coreProperties>
</file>